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1" r:id="rId26"/>
    <p:sldId id="282" r:id="rId27"/>
    <p:sldId id="283" r:id="rId28"/>
    <p:sldId id="286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77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예진[컴퓨터시스템공학과]" userId="13e23d47-bf9e-4dd7-9598-78607d8c2704" providerId="ADAL" clId="{088C357D-887F-4475-8ECE-CC50A71C2B32}"/>
    <pc:docChg chg="delSld">
      <pc:chgData name="이예진[컴퓨터시스템공학과]" userId="13e23d47-bf9e-4dd7-9598-78607d8c2704" providerId="ADAL" clId="{088C357D-887F-4475-8ECE-CC50A71C2B32}" dt="2026-04-27T07:35:59.200" v="2" actId="47"/>
      <pc:docMkLst>
        <pc:docMk/>
      </pc:docMkLst>
      <pc:sldChg chg="del">
        <pc:chgData name="이예진[컴퓨터시스템공학과]" userId="13e23d47-bf9e-4dd7-9598-78607d8c2704" providerId="ADAL" clId="{088C357D-887F-4475-8ECE-CC50A71C2B32}" dt="2026-04-27T07:35:39.978" v="0" actId="47"/>
        <pc:sldMkLst>
          <pc:docMk/>
          <pc:sldMk cId="0" sldId="279"/>
        </pc:sldMkLst>
      </pc:sldChg>
      <pc:sldChg chg="del">
        <pc:chgData name="이예진[컴퓨터시스템공학과]" userId="13e23d47-bf9e-4dd7-9598-78607d8c2704" providerId="ADAL" clId="{088C357D-887F-4475-8ECE-CC50A71C2B32}" dt="2026-04-27T07:35:54.803" v="1" actId="47"/>
        <pc:sldMkLst>
          <pc:docMk/>
          <pc:sldMk cId="0" sldId="284"/>
        </pc:sldMkLst>
      </pc:sldChg>
      <pc:sldChg chg="del">
        <pc:chgData name="이예진[컴퓨터시스템공학과]" userId="13e23d47-bf9e-4dd7-9598-78607d8c2704" providerId="ADAL" clId="{088C357D-887F-4475-8ECE-CC50A71C2B32}" dt="2026-04-27T07:35:59.200" v="2" actId="47"/>
        <pc:sldMkLst>
          <pc:docMk/>
          <pc:sldMk cId="0" sldId="2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5282F153-3F37-0F45-9E97-73ACFA13230C}" type="datetime1">
              <a:rPr lang="en-US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448495" y="4114800"/>
            <a:ext cx="5486400" cy="54864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2011680" cy="3657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교내 경진대회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인하공전 학생 단체보험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화상 상담 시스템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BE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실험실 사고부터 현장실습 상해까지 — 학생이 묻고 AI가 답하는 24시간 상담 창구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754880"/>
            <a:ext cx="36576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31520" y="4892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4892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인슈어테크 · Insurtech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303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5303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이예진 · 지윤석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57150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57150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인하공업전문대학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05695" y="6126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Agenda · 전체 9개 파트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31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인하공전 · 인슈어테크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54864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822960" cy="51206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17373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배경 · 왜 만들었나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196596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안전교육의 실효성 한계 진단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54864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822960" cy="51206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217920" y="1691640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132320" y="17373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솔루션 개요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0" y="196596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한눈에 보기 + 기술 스택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313432"/>
            <a:ext cx="54864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48640" y="2313432"/>
            <a:ext cx="822960" cy="51206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48640" y="2313432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3040" y="23591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아키텍처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258775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구조와 데이터 흐름 파이프라인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2313432"/>
            <a:ext cx="54864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217920" y="2313432"/>
            <a:ext cx="822960" cy="51206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217920" y="2313432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32320" y="23591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8선 (상세)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32320" y="258775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매칭 엔진 · 위험 감지 · AI 아바타 · TTS · STT · 프리셋 · 약관 · 이력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2935224"/>
            <a:ext cx="54864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48640" y="2935224"/>
            <a:ext cx="822960" cy="51206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48640" y="2935224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463040" y="298094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UI/UX 설계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463040" y="3209544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 레이아웃과 브랜딩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2935224"/>
            <a:ext cx="54864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6217920" y="2935224"/>
            <a:ext cx="822960" cy="51206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217920" y="2935224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132320" y="298094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기술적 의의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132320" y="3209544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Hybrid Intelligence · Pluggable · Zero-backend · Graceful Degradation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3557016"/>
            <a:ext cx="54864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548640" y="3557016"/>
            <a:ext cx="822960" cy="51206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548640" y="3557016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463040" y="360273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 계획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463040" y="3831336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2 백엔드 연동 · 임베딩 매칭 · 다국어 · 모바일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17920" y="3557016"/>
            <a:ext cx="54864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6217920" y="3557016"/>
            <a:ext cx="822960" cy="51206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6217920" y="3557016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132320" y="360273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효과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132320" y="3831336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의식 제고 · 보험 활용도 증가 · 행정 부하 감소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48640" y="4178808"/>
            <a:ext cx="54864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548640" y="4178808"/>
            <a:ext cx="822960" cy="51206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548640" y="4178808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463040" y="422452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 · Q&amp;A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1463040" y="445312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095" y="-914400"/>
            <a:ext cx="5486400" cy="548640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배경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731520" y="4023360"/>
            <a:ext cx="1371600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BE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안전교육의 실효성 한계를 데이터·현장 관찰에 근거해 진단한다.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31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인하공전 · 인슈어테크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안전교육, 왜 실효성이 낮은가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현장에서 관찰되는 5가지 구조적 한계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31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인하공전 · 인슈어테크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37490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73152" cy="21488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85800" cy="6858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📺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85800" y="2651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일방향 강의식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3063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동영상·OT 형식의 단방향 전달로 사고 상황 대응을 체득하기 어렵다.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1645920"/>
            <a:ext cx="37490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343400" y="1645920"/>
            <a:ext cx="73152" cy="21488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572000" y="1874520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572000" y="18745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🧠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72000" y="2651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사후 지식 휘발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3063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학기 초 기억은 1-2개월 내 대부분 소실되어, 실제 필요 시 상기되지 않는다.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0" y="1645920"/>
            <a:ext cx="37490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8229600" y="1645920"/>
            <a:ext cx="73152" cy="2148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8458200" y="1874520"/>
            <a:ext cx="685800" cy="6858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458200" y="18745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❓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458200" y="2651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 절차 미숙지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58200" y="3063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「무엇을 먼저 해야 하는가」, 「보험 청구는 어떻게 하는가」의 정답률이 낮다.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377440" y="4023360"/>
            <a:ext cx="37490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2377440" y="4023360"/>
            <a:ext cx="73152" cy="21488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2606040" y="42519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2606040" y="42519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💳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2606040" y="5029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단체보험 활용 저조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606040" y="54406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재학생 전원이 가입돼 있으나 청구 절차·담보 범위를 아는 학생이 소수다.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63640" y="4023360"/>
            <a:ext cx="37490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6263640" y="4023360"/>
            <a:ext cx="73152" cy="21488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6492240" y="4251960"/>
            <a:ext cx="685800" cy="6858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492240" y="42519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🚪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492240" y="5029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창구 접근성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92240" y="54406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행정실·보건실 운영 시간 제한, 담당자 부재 시 상담 대기가 길다.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그래서, 우리가 만들었습니다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 개발의 4대 취지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31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인하공전 · 인슈어테크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73152" cy="21945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22960" y="182880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2011680" y="1965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대화형 시뮬레이션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11680" y="246888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학생이 사고 상황을 말로 설명하면 AI 아바타가 즉시 음성으로 대응을 안내. 「듣는 교육」에서 「체험하는 교육」으로.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73152" cy="21945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7680960" y="1965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상담 창구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680960" y="246888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시간·장소 제약 없이 사고 발생 즉시 상담. 야간·주말·방학 중에도 접근 가능.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73152" cy="21945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22960" y="41605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2011680" y="4297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단체보험 활용 촉진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011680" y="480060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사고 유형별 약관 조항과 청구 절차를 자동 매칭하여 안내. 실제 청구 행동으로 연결.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97764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217920" y="3977640"/>
            <a:ext cx="73152" cy="21945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492240" y="41605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7680960" y="4297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위기 상황 조기 감지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680960" y="480060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「폭발」·「감전」·「중독」 등 중대 키워드 언급 시 즉시 경고. 관리자 선제 개입 가능.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솔루션 개요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731520" y="4023360"/>
            <a:ext cx="1371600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BE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WebRTC + AI 아바타 + Mock-first 매칭 + Gemini 하이브리드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31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인하공전 · 인슈어테크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한눈에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 보는 인슈어테크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31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인하공전 · 인슈어테크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2651760" cy="30175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2651760" cy="14630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800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703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등록된 사고 시나리오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114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공대 특화 7 + 일반 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0" y="1828800"/>
            <a:ext cx="2651760" cy="30175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383280" y="1828800"/>
            <a:ext cx="2651760" cy="14630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214884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</a:t>
            </a:r>
            <a:endParaRPr lang="en-US" sz="8000" dirty="0"/>
          </a:p>
        </p:txBody>
      </p:sp>
      <p:sp>
        <p:nvSpPr>
          <p:cNvPr id="17" name="Text 15"/>
          <p:cNvSpPr/>
          <p:nvPr/>
        </p:nvSpPr>
        <p:spPr>
          <a:xfrm>
            <a:off x="3383280" y="3291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66160" y="3703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키워드 사전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66160" y="4114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high 8 · medium 11 · low 3 · 기타 7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1828800"/>
            <a:ext cx="2651760" cy="30175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217920" y="1828800"/>
            <a:ext cx="2651760" cy="14630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217920" y="214884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8000" dirty="0"/>
          </a:p>
        </p:txBody>
      </p:sp>
      <p:sp>
        <p:nvSpPr>
          <p:cNvPr id="23" name="Text 21"/>
          <p:cNvSpPr/>
          <p:nvPr/>
        </p:nvSpPr>
        <p:spPr>
          <a:xfrm>
            <a:off x="6217920" y="3291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3703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시연용 상담 대본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0" y="4114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STT 장애 대비 프리셋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052560" y="1828800"/>
            <a:ext cx="2651760" cy="30175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052560" y="1828800"/>
            <a:ext cx="2651760" cy="14630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9052560" y="214884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8000" dirty="0"/>
          </a:p>
        </p:txBody>
      </p:sp>
      <p:sp>
        <p:nvSpPr>
          <p:cNvPr id="29" name="Text 27"/>
          <p:cNvSpPr/>
          <p:nvPr/>
        </p:nvSpPr>
        <p:spPr>
          <a:xfrm>
            <a:off x="9052560" y="3291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235440" y="3703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모듈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235440" y="4114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매칭 · 감지 · 아바타 · TTS · STT · 프리셋 · 약관 · 이력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53035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하이브리드 지능: 80% 이상을 사전 매칭으로, 신규 20%만 Gemini 호출 — 비용·지연·일관성 3중 개선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스택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Frontend (메인) + Backend (보조) + External APIs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31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인하공전 · 인슈어테크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37490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3749040" cy="6400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⚡  Frontend (핵심)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React 18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66090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SPA 프레임워크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92608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React Router v6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16382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라우팅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42900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WebRTC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66674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getUserMedia 카메라/마이크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93192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SpeechRecognition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16966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 STT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443484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SpeechSynthesis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67258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 TTS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93776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LocalStorage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17550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이력 영속화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544068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CSS3 Animations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67842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아바타 펄스·입 싱크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43400" y="1645920"/>
            <a:ext cx="37490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343400" y="1645920"/>
            <a:ext cx="3749040" cy="6400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26280" y="16459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☕  Backend (보조, Adjuster)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26280" y="242316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Java 17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26280" y="266090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런타임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26280" y="292608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 Boot 3.2.5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26280" y="316382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26280" y="342900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 Data JPA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26280" y="366674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26280" y="393192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 Security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26280" y="416966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인증/인가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26280" y="443484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 WebSocket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26280" y="467258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시그널링 (옵션)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26280" y="493776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 8.0 / H2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26280" y="517550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(프로덕션/데모)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26280" y="544068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Thymeleaf · Gradle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26280" y="567842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렌더링·빌드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229600" y="1645920"/>
            <a:ext cx="37490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8229600" y="1645920"/>
            <a:ext cx="3749040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8412480" y="16459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🌐  External + Assets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412480" y="242316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Gemini 1.5 Flash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412480" y="266090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폴백 분석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412480" y="292608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STUN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412480" y="316382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NAT 트래버설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412480" y="342900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scenarios.js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412480" y="366674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DB (12건)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412480" y="393192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riskKeywords.js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412480" y="416966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사전 (29건)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412480" y="443484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demoScripts.js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412480" y="467258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대본 (7건)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구조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src/ 디렉터리와 모듈 역할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31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인하공전 · 인슈어테크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6583680" cy="48463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6400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scenarios.js         시나리오 DB (12건)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riskKeywords.js      위험 키워드 (29건)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demoScripts.js       시연 대본 (7건)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services/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scenarioMatcher.js   매칭 엔진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riskDetector.js      위험 감지 엔진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tts.js               음성합성 래퍼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gemini.js            AI 분석 (매처 선행)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api.js               백엔드 API 래퍼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hooks/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useWebRTC.js         WebRTC + STT 훅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pages/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LoginPage.js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MainPage.js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DeviceCheckPage.js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ConsultationRoomPage.js  ★ 핵심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SummaryPage.js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DashboardPage.js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App.js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index.js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73736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315200" y="1737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092440" y="17373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92440" y="202996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순수 JSON 자산. 엔진과 분리된 도메인 데이터.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0" y="2880360"/>
            <a:ext cx="594360" cy="59436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315200" y="2880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⚙️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092440" y="28803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92440" y="317296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비즈니스 로직: 매칭, 감지, TTS, AI 호출.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0" y="402336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315200" y="4023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🪝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092440" y="40233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hooks/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92440" y="431596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React 커스텀 훅: WebRTC + STT 통합.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0" y="516636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315200" y="5166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📄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092440" y="51663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92440" y="545896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라우트별 화면. ConsultationRoomPage가 핵심.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흐름 파이프라인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발화 → 분석 → TTS 출력까지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31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인하공전 · 인슈어테크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8288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05840" y="201168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0584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🎙️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음성 입력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getUserMedia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SpeechRecognition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(ko-KR, continuous)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40280" y="2834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423160" y="1828800"/>
            <a:ext cx="18288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971800" y="2011680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97180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514600" y="2834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STT 변환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14600" y="32461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isFinal 청크만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onTranscript 콜백으로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전달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06240" y="2834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389120" y="1828800"/>
            <a:ext cx="18288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937760" y="2011680"/>
            <a:ext cx="731520" cy="73152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93776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🚨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480560" y="2834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위험 감지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80560" y="32461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riskDetector가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29개 사전 검색 →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경고 배지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72200" y="2834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355080" y="1828800"/>
            <a:ext cx="18288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903720" y="2011680"/>
            <a:ext cx="731520" cy="7315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90372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446520" y="2834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시나리오 매칭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46520" y="32461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scenarioMatcher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 실행 →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 시 사전 JSON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138160" y="2834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321040" y="1828800"/>
            <a:ext cx="18288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8869680" y="201168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886968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🤖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8412480" y="2834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AI 폴백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412480" y="32461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매칭 실패 시에만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Gemini 1.5 Flash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104120" y="2834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0287000" y="1828800"/>
            <a:ext cx="18288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0835640" y="2011680"/>
            <a:ext cx="731520" cy="73152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1083564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🔊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10378440" y="2834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TTS 출력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0378440" y="32461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speechSynthesis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아바타 애니메이션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말풍선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466344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localStorage(consultHistory)에 전체 세션 영속화 → Summary/Dashboard에서 재조회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57200" y="5120640"/>
            <a:ext cx="11277295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640080" y="521208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설계 원리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40080" y="548640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매처가 Gemini보다 먼저 실행되어 API 비용·지연 회피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위험 감지는 모든 STT 청크에 즉시 수행되어 상담 중에도 실시간 경고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TTS는 매칭 결과의 요약 + 후속조치 3건 + 합의방향을 순차 발화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095" y="-914400"/>
            <a:ext cx="5486400" cy="548640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8선 — 상세 해부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731520" y="4023360"/>
            <a:ext cx="1371600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BE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매칭 · 폴백 · 감지 · 아바타 · TTS · STT · 프리셋 · 약관 · 이력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31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인하공전 · 인슈어테크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8개 기능, 한 장에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슬라이드부터 각 기능 상세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31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인하공전 · 인슈어테크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2743200" cy="10972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85800" y="192024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580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377440" y="19202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2697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Mock-first 매칭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3154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scenarioMatcher가 Gemini보다 먼저 실행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1645920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337560" y="1645920"/>
            <a:ext cx="2743200" cy="10972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566160" y="192024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56616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🤖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257800" y="19202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566160" y="2697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Gemini AI 폴백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566160" y="3154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매칭 실패 시에만 1.5 Flash 호출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1645920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217920" y="1645920"/>
            <a:ext cx="2743200" cy="10972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446520" y="1920240"/>
            <a:ext cx="640080" cy="64008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44652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🚨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138160" y="19202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46520" y="2697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키워드 감지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46520" y="3154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STT 청크마다 29개 사전 검색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098280" y="1645920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098280" y="1645920"/>
            <a:ext cx="2743200" cy="10972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9326880" y="1920240"/>
            <a:ext cx="640080" cy="64008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932688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👤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1018520" y="19202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326880" y="2697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아바타 + 애니메이션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326880" y="3154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펄스 3겹 + 입 싱크 + 말풍선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023360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57200" y="4023360"/>
            <a:ext cx="2743200" cy="10972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685800" y="429768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8580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🔊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2377440" y="42976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#5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85800" y="5074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TTS 음성합성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85800" y="55321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 여성 음성 자동 선택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337560" y="4023360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3337560" y="4023360"/>
            <a:ext cx="2743200" cy="10972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3566160" y="429768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356616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🎙️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5257800" y="42976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#6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3566160" y="5074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STT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3566160" y="55321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SpeechRecognition ko-KR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217920" y="4023360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6217920" y="4023360"/>
            <a:ext cx="2743200" cy="109728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6446520" y="429768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644652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8138160" y="42976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6D2E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#7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6446520" y="5074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프리셋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6446520" y="55321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STT 장애 대비 7건 대본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098280" y="4023360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9098280" y="4023360"/>
            <a:ext cx="2743200" cy="10972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9326880" y="42976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932688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📄</a:t>
            </a:r>
            <a:endParaRPr lang="en-US" sz="2200" dirty="0"/>
          </a:p>
        </p:txBody>
      </p:sp>
      <p:sp>
        <p:nvSpPr>
          <p:cNvPr id="61" name="Text 59"/>
          <p:cNvSpPr/>
          <p:nvPr/>
        </p:nvSpPr>
        <p:spPr>
          <a:xfrm>
            <a:off x="11018520" y="42976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#8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9326880" y="5074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약관·이력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9326880" y="55321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조항 하이라이트 + localStorage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#1 Mock-first 시나리오 매칭  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의도 — LLM 3대 문제의 해결책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31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인하공전 · 인슈어테크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🚫 LLM 기반 상담의 3대 문제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5303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73152" cy="11887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77240" y="2286000"/>
            <a:ext cx="640080" cy="64008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7724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💰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00200" y="2194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25603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호출당 토큰 과금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1,000회 × 수 원 = 누적 상당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5303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73152" cy="1188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77240" y="365760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77240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⏳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00200" y="3566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39319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RTT + 토큰 생성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2~5초 응답 시간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754880"/>
            <a:ext cx="5303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48640" y="4754880"/>
            <a:ext cx="73152" cy="1188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77240" y="502920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77240" y="5029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🎲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600200" y="4937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일관성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00200" y="53035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질문에 매번 다른 문구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품질·신뢰도 저하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1554480"/>
            <a:ext cx="5486400" cy="4572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217920" y="1554480"/>
            <a:ext cx="5486400" cy="5486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400800" y="15544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해결: Mock-first 하이브리드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00800" y="2240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BE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 상담의 80~90%는 정형화된 패턴으로 수렴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0" y="2788920"/>
            <a:ext cx="1554480" cy="5943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400800" y="27889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80%+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092440" y="2880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 시나리오로 0ms·0원 처리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00800" y="3566160"/>
            <a:ext cx="1554480" cy="5943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400800" y="35661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&lt; 50ms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092440" y="3657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매칭 평균 응답 시간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00800" y="4343400"/>
            <a:ext cx="1554480" cy="5943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400800" y="43434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일관된 답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092440" y="4434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검증된 답변만 안정 제공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400800" y="5120640"/>
            <a:ext cx="1554480" cy="5943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6400800" y="512064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20%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092440" y="5212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신규/예외만 Gemini 호출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#1 Mock-first 매칭  ②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매칭 알고리즘 — 3단계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/ 31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인하공전 · 인슈어테크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914400" cy="91440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645920" y="1737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정규화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45920" y="21031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대화록을 소문자로 변환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914400" cy="91440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48640" y="3063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645920" y="3154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 키워드 그룹 검사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45920" y="35204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그룹끼리 AND, 그룹 내부 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하나라도 빠지면 후보 제외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914400" cy="91440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48640" y="4480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645920" y="4572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스코어링 &amp; 최고점 채택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45920" y="49377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히트 키워드 수 / 전체 키워드 수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임계값(0.2~0.4) 초과 최고점만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1645920"/>
            <a:ext cx="5486400" cy="47548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40080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scenarioMatcher.js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2103120"/>
            <a:ext cx="53035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matchScenario = (transcript) =&gt;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text = (transcript || '').toLowerCase();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(!text.trim()) return null;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best = null;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(const s of scenarios)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① 필수 키워드 그룹 검사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(s.requiredKeywords?.length)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ok = s.requiredKeywords.every(g =&gt;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const alts = Array.isArray(g) ? g : [g];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alts.some(k =&gt; text.includes(k));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(!ok) continue;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② 스코어 계산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hits = s.keywords.filter(k =&gt;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text.includes(k.toLowerCase())).length;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score = hits / s.keywords.length;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③ 임계값 + 최고점 채택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(score &gt;= (s.threshold ?? 0.4) &amp;&amp;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(!best || score &gt; best.score))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best = { scenario: s, score, hits };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best;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#1 Mock-first 매칭  ③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데이터 스키마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/ 31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인하공전 · 인슈어테크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0241280" cy="3657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23360" y="1691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77840" y="16916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057400"/>
            <a:ext cx="10241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48640" y="2057400"/>
            <a:ext cx="73152" cy="3657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2057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23360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77840" y="20574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고유 식별자 (snake_case)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423160"/>
            <a:ext cx="102412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48640" y="2423160"/>
            <a:ext cx="73152" cy="3657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0080" y="2423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023360" y="2423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77840" y="24231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표시 한글명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788920"/>
            <a:ext cx="10241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48640" y="2788920"/>
            <a:ext cx="73152" cy="3657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40080" y="2788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requiredKeywords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23360" y="27889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string[][]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7840" y="27889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 그룹. 그룹 AND, 내부 OR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154680"/>
            <a:ext cx="102412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48640" y="3154680"/>
            <a:ext cx="73152" cy="3657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40080" y="3154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keywords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023360" y="3154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string[]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77840" y="31546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스코어링용 키워드 (동등 가중치)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3520440"/>
            <a:ext cx="10241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548640" y="3520440"/>
            <a:ext cx="73152" cy="365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40080" y="3520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023360" y="35204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77840" y="35204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임계값 0.0~1.0 (보통 0.2~0.4)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3886200"/>
            <a:ext cx="102412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548640" y="3886200"/>
            <a:ext cx="73152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40080" y="3886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analysis.summary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023360" y="3886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77840" y="3886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3줄 요약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4251960"/>
            <a:ext cx="10241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548640" y="4251960"/>
            <a:ext cx="73152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40080" y="4251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analysis.keywords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023360" y="4251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string[]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577840" y="42519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추출 키워드 5개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48640" y="4617720"/>
            <a:ext cx="102412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548640" y="4617720"/>
            <a:ext cx="73152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640080" y="4617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analysis.clauseRefs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023360" y="4617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string[]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577840" y="4617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약관 조항 배열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48640" y="4983480"/>
            <a:ext cx="10241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548640" y="4983480"/>
            <a:ext cx="73152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640080" y="4983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analysis.customerTone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023360" y="4983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577840" y="4983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불안 | 차분 | 불만 | 적극적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48640" y="5349240"/>
            <a:ext cx="102412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548640" y="5349240"/>
            <a:ext cx="73152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640080" y="5349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analysis.riskLevel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023360" y="53492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577840" y="53492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낮음 | 보통 | 높음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48640" y="5715000"/>
            <a:ext cx="10241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548640" y="5715000"/>
            <a:ext cx="73152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640080" y="5715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analysis.actionItems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023360" y="5715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string[]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577840" y="57150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후속 조치 3개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48640" y="6080760"/>
            <a:ext cx="102412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548640" y="6080760"/>
            <a:ext cx="73152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640080" y="6080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analysis.settlementHint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4023360" y="6080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5577840" y="60807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합의/처리 방향 한 문장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#1 Mock-first 매칭  ④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등록된 시나리오 12건 — 공대 특화 7 + 일반 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/ 31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인하공전 · 인슈어테크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🧪 공대 특화 (7건)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5486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73152" cy="4572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58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🧪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0756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실험실 화학약품 화상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2295144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염산·황산·피부 접촉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587752"/>
            <a:ext cx="5486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48640" y="2587752"/>
            <a:ext cx="73152" cy="4572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85800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🔥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2606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실험실 가열기구 열화상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2825496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납땜·핫플레이트·오토클레이브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118104"/>
            <a:ext cx="5486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48640" y="3118104"/>
            <a:ext cx="73152" cy="4572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85800" y="3118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⚡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31363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실험실 감전 사고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3355848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회로·고압·심전도 관찰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648456"/>
            <a:ext cx="5486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48640" y="3648456"/>
            <a:ext cx="73152" cy="4572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85800" y="3648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🔧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43000" y="36667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실험실 기계 부상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3000" y="3886200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CNC·선반·절단기 끼임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4178808"/>
            <a:ext cx="5486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548640" y="4178808"/>
            <a:ext cx="73152" cy="4572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85800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🧬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43000" y="41970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실험실 화학물질 흡입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43000" y="4416552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흄후드·유기용매·폐기능 검사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4709160"/>
            <a:ext cx="5486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548640" y="4709160"/>
            <a:ext cx="73152" cy="4572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8580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💥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43000" y="47274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실험실 기자재 파손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43000" y="4946904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배상책임·감가상각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8640" y="5239512"/>
            <a:ext cx="5486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548640" y="5239512"/>
            <a:ext cx="73152" cy="4572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685800" y="5239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🏭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43000" y="5257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현장실습/인턴십 상해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143000" y="5477256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산재 vs 학생 단체보험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30936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🚗 일반 보험 (5건)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09360" y="2057400"/>
            <a:ext cx="5394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6309360" y="2057400"/>
            <a:ext cx="73152" cy="4572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644652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🚗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903720" y="207568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교통사고 후방추돌 + 경추/요추 염좌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903720" y="2295144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정형외과 · 후유장해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309360" y="2587752"/>
            <a:ext cx="5394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6309360" y="2587752"/>
            <a:ext cx="73152" cy="4572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6446520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🚙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903720" y="26060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교통사고 측면충돌 + 골절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903720" y="2825496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수술·입원·휴업손해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309360" y="3118104"/>
            <a:ext cx="5394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6309360" y="3118104"/>
            <a:ext cx="73152" cy="4572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6446520" y="3118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🚓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903720" y="31363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교통사고 전방추돌 + 뇌진탕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903720" y="3355848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MRI · 신경과 · 후유장해 고착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309360" y="3648456"/>
            <a:ext cx="5394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6309360" y="3648456"/>
            <a:ext cx="73152" cy="4572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6446520" y="3648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🏚️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903720" y="366674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주거 화재 손해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903720" y="3886200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발화원인·잔존물 감정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309360" y="4178808"/>
            <a:ext cx="5394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6309360" y="4178808"/>
            <a:ext cx="73152" cy="4572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6446520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⚽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903720" y="419709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운동 중 상해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903720" y="441655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인대파열·재활·수술 여부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시나리오의 analysis 객체는 summary·keywords·clauseRefs·tone·riskLevel·actionItems(3)·settlementHint를 모두 포함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#1 Mock-first 매칭  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analyzeConsultation 반환의 source 필드로 출처 구분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 / 31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인하공전 · 인슈어테크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11094415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137160" cy="13258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965960"/>
            <a:ext cx="137160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68680" y="1965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6888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📚 사전 매칭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6888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매칭 성공 — 즉시 반환 (&lt; 50ms)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matchedScenarioName, matchScore 필드 포함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11094415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137160" cy="132588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68680" y="3474720"/>
            <a:ext cx="1371600" cy="4572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68680" y="3474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46888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🌐 Gemini 실시간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46888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Gemini 1.5 Flash 호출 성공 — 2~5초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46888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신규·예외 상황에서만 발생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754880"/>
            <a:ext cx="11094415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48640" y="4754880"/>
            <a:ext cx="137160" cy="132588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868680" y="4983480"/>
            <a:ext cx="1371600" cy="45720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868680" y="4983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fallback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46888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⚙️ 기본 예시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468880" y="5394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키 미설정 또는 호출 실패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468880" y="5715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getMockAnalysis() 하드코딩 응답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#2 Gemini AI 폴백 분석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매칭 실패 시에만 호출 — 비용·지연 최소화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/ 31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인하공전 · 인슈어테크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구성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5486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Endpoint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210312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generativelanguage.googleapis.com/v1beta/models/gemini-1.5-flash:generateContent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5486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0080" y="260604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Method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260604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+ key=${GEMINI_API_KEY} query string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5486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310896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Temperature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310896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 (일관된 결과 우선)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5486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0080" y="361188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maxOutputTokens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94560" y="361188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5486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" y="411480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Response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94560" y="411480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(프롬프트에 스키마 명시)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5486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40080" y="461772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Error handling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94560" y="461772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try/catch → getMockAnalysis (graceful degradation)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9360" y="1645920"/>
            <a:ext cx="5394960" cy="47548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49224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프롬프트 (하드코딩)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92240" y="2103120"/>
            <a:ext cx="51206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당신은 보험 손해사정 전문 AI입니다.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 상담 내용을 분석하여 JSON만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반환하세요 (설명 없이):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상담내용: "${transcript}"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사고유형: ${accidentType}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"summary": "3줄 요약",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"keywords": ["k1","k2","k3","k4","k5"],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"clauseRefs": ["제12조","제15조"],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"customerTone": "불안|차분|불만|적극적",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"riskLevel": "낮음|보통|높음",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"actionItems": ["a1","a2","a3"],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"settlementHint": "합의 방향 한 문장"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#3 위험 키워드 실시간 감지  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원리 + 중복 방지 로직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 / 31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인하공전 · 인슈어테크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흐름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6400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73152" cy="5486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77240" y="210312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STT가 변환한 최종 발화 청크를 onTranscript로 전달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6400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73152" cy="5486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77240" y="274320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riskDetector.detectRisks(text)를 즉시 호출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6400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73152" cy="5486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77240" y="33832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29개 사전 중 substring 매칭된 키워드 반환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6400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73152" cy="5486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77240" y="40233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세션 Set에서 중복 체크 (같은 키워드 재표시 방지)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663440"/>
            <a:ext cx="6400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48640" y="4663440"/>
            <a:ext cx="73152" cy="5486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77240" y="466344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상단 중앙에 슬라이드-인 애니메이션 배지 렌더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303520"/>
            <a:ext cx="6400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48640" y="5303520"/>
            <a:ext cx="73152" cy="5486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77240" y="530352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severity에 따라 10~15초 후 자동 소멸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223760" y="1645920"/>
            <a:ext cx="4572000" cy="47548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406640" y="17373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riskDetector.js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06640" y="2103120"/>
            <a:ext cx="4206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riskKeywords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'../data/riskKeywords';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detectRisks = (text)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lower = (text || '').toLowerCase();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(!lower.trim()) return [];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riskKeywords.filter(r =&gt;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lower.includes(r.keyword.toLowerCase())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06640" y="45262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 측 중복 방지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06640" y="4892040"/>
            <a:ext cx="4206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seenRef = useRef(new Set());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risks.filter(r =&gt;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!seenRef.current.has(r.keyword)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).forEach(r =&gt; seenRef.current.add(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r.keyword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#3 위험 키워드 실시간 감지  ②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 29건 — 3단계 심각도 분류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/ 31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인하공전 · 인슈어테크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37490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3749040" cy="8229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17190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HIGH · 중대 사안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057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14건 · 15초 유지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606040"/>
            <a:ext cx="768096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0080" y="260604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폭발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481328" y="2606040"/>
            <a:ext cx="768096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481328" y="260604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22576" y="2606040"/>
            <a:ext cx="768096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322576" y="260604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중독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63824" y="2606040"/>
            <a:ext cx="768096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163824" y="260604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044952"/>
            <a:ext cx="768096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40080" y="3044952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추락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481328" y="3044952"/>
            <a:ext cx="768096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481328" y="3044952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322576" y="3044952"/>
            <a:ext cx="768096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2322576" y="3044952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누전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63824" y="3044952"/>
            <a:ext cx="768096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163824" y="3044952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사망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3483864"/>
            <a:ext cx="768096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40080" y="3483864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사기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481328" y="3483864"/>
            <a:ext cx="768096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1481328" y="3483864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소송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322576" y="3483864"/>
            <a:ext cx="768096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2322576" y="3483864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고소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163824" y="3483864"/>
            <a:ext cx="768096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3163824" y="3483864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자살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3922776"/>
            <a:ext cx="969264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40080" y="3922776"/>
            <a:ext cx="969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변호사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682496" y="3922776"/>
            <a:ext cx="969264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1682496" y="3922776"/>
            <a:ext cx="969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금감원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43400" y="1645920"/>
            <a:ext cx="37490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4343400" y="1645920"/>
            <a:ext cx="3749040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4526280" y="17190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MEDIUM · 대응 유의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4526280" y="2057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12건 · 10초 유지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26280" y="2606040"/>
            <a:ext cx="768096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4526280" y="260604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화상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367528" y="2606040"/>
            <a:ext cx="768096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5367528" y="260604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부상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08776" y="2606040"/>
            <a:ext cx="768096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6208776" y="260604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골절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526280" y="3044952"/>
            <a:ext cx="137160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4526280" y="30449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약품 노출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971032" y="3044952"/>
            <a:ext cx="73152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5971032" y="304495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흄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775704" y="3044952"/>
            <a:ext cx="768096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6775704" y="3044952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민원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526280" y="3483864"/>
            <a:ext cx="768096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4526280" y="3483864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거부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367528" y="3483864"/>
            <a:ext cx="768096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5367528" y="3483864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거절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208776" y="3483864"/>
            <a:ext cx="768096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6208776" y="3483864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불만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050024" y="3483864"/>
            <a:ext cx="768096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7050024" y="3483864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526280" y="3922776"/>
            <a:ext cx="768096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4526280" y="3922776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환불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367528" y="3922776"/>
            <a:ext cx="768096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5367528" y="3922776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녹취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8229600" y="1645920"/>
            <a:ext cx="37490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8229600" y="1645920"/>
            <a:ext cx="3749040" cy="8229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8412480" y="17190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 · 주의 환기</a:t>
            </a:r>
            <a:endParaRPr lang="en-US" sz="1500" dirty="0"/>
          </a:p>
        </p:txBody>
      </p:sp>
      <p:sp>
        <p:nvSpPr>
          <p:cNvPr id="71" name="Text 69"/>
          <p:cNvSpPr/>
          <p:nvPr/>
        </p:nvSpPr>
        <p:spPr>
          <a:xfrm>
            <a:off x="8412480" y="2057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3건 · 10초 유지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8412480" y="2606040"/>
            <a:ext cx="768096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8412480" y="260604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지연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9253728" y="2606040"/>
            <a:ext cx="768096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/>
          <p:nvPr/>
        </p:nvSpPr>
        <p:spPr>
          <a:xfrm>
            <a:off x="9253728" y="260604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착오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10094976" y="2606040"/>
            <a:ext cx="1170432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/>
          <p:nvPr/>
        </p:nvSpPr>
        <p:spPr>
          <a:xfrm>
            <a:off x="10094976" y="2606040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어지럼증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#4 AI 아바타  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「진아」 — CSS만으로 구현한 가상 상담사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 / 31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인하공전 · 인슈어테크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74495"/>
            <a:ext cx="5029200" cy="47548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아바타 미리보기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11680" y="2971800"/>
            <a:ext cx="2103120" cy="2103120"/>
          </a:xfrm>
          <a:prstGeom prst="ellipse">
            <a:avLst/>
          </a:prstGeom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217420" y="3177540"/>
            <a:ext cx="1691640" cy="1691640"/>
          </a:xfrm>
          <a:prstGeom prst="ellipse">
            <a:avLst/>
          </a:prstGeom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423160" y="3383280"/>
            <a:ext cx="1280160" cy="1280160"/>
          </a:xfrm>
          <a:prstGeom prst="ellipse">
            <a:avLst/>
          </a:prstGeom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171700" y="3131819"/>
            <a:ext cx="1737360" cy="1737360"/>
          </a:xfrm>
          <a:prstGeom prst="ellipse">
            <a:avLst/>
          </a:prstGeom>
          <a:solidFill>
            <a:srgbClr val="1D4ED8"/>
          </a:solidFill>
          <a:ln w="381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194560" y="315468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🤖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548640" y="5212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상담사 진아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5577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BE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인하공전 학생 단체보험 AI 상담사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애니메이션 4겹 레이어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43600" y="2148840"/>
            <a:ext cx="5760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943600" y="2148840"/>
            <a:ext cx="73152" cy="96012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080760" y="22860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83680" y="2240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펄스 링 3겹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0" y="25603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2초 주기 확장 페이드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(width 200px → 380px)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692640" y="2450592"/>
            <a:ext cx="196596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692640" y="245059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isSpeaking=true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0" y="3200400"/>
            <a:ext cx="5760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943600" y="3200400"/>
            <a:ext cx="73152" cy="96012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080760" y="33375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83680" y="3291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아바타 본체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83680" y="36118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1.04× 확대 + 쉐도우 강화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692640" y="3502152"/>
            <a:ext cx="196596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9692640" y="350215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isSpeaking=true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43600" y="4251960"/>
            <a:ext cx="5760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5943600" y="4251960"/>
            <a:ext cx="73152" cy="96012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080760" y="43891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583680" y="4343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 모양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583680" y="46634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0.28초 주기로 가로·세로 변화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(w 20→34px, h 4→12px)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692640" y="4553712"/>
            <a:ext cx="196596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9692640" y="455371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isSpeaking=true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943600" y="5303520"/>
            <a:ext cx="5760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5943600" y="5303520"/>
            <a:ext cx="73152" cy="96012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6080760" y="54406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583680" y="5394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말풍선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583680" y="57150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0.25초 fade-in, 현재 발화 텍스트 표시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692640" y="5605272"/>
            <a:ext cx="196596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9692640" y="560527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currentUtterance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#4 AI 아바타  ②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TTS 엔진 tts.js + 발화 시나리오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 / 31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인하공전 · 인슈어테크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 음성 자동 선택 (3단 폴백)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5486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85800" y="2258568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5800" y="2258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15798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ko-KR + 여성 음성 우선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heami, yuna 등 이름 매칭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86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85800" y="3081528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85800" y="3081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298094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lang === "ko-KR"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2918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 종류 무관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5486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85800" y="3904488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85800" y="3904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380390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lang.startsWith("ko")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41148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ko-로 시작하는 모든 음성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7548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voiceschanged 이벤트로 비동기 음성 목록 갱신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autoplay 정책: 입장 2초 후 인사 트리거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발화 트리거 시나리오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309360" y="2103120"/>
            <a:ext cx="5394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309360" y="2103120"/>
            <a:ext cx="73152" cy="9144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492240" y="2194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입장 +2초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92240" y="25146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"안녕하세요. 인하공전 학생 단체보험 AI 상담사 진아입니다..."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3154680"/>
            <a:ext cx="5394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309360" y="3154680"/>
            <a:ext cx="73152" cy="9144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492240" y="3246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완료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92240" y="35661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→ "후속 조치를 안내드립니다. 1번... 2번... 3번..." → 합의 방향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9360" y="4206240"/>
            <a:ext cx="5394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6309360" y="4206240"/>
            <a:ext cx="73152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492240" y="4297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분석 호출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92240" y="46177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synth.cancel() 후 새 utterance 재생 (이전 발화 즉시 중단)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09360" y="5257800"/>
            <a:ext cx="5394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6309360" y="5257800"/>
            <a:ext cx="73152" cy="9144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6492240" y="5349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 이탈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492240" y="56692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unmount cleanup에서 cancelSpeak() 호출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#5 실시간 STT 음성 인식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SpeechRecognition API (ko-KR)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/ 31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인하공전 · 인슈어테크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파라미터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5669280" cy="411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파라미터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03120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31920" y="21031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514600"/>
            <a:ext cx="56692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25146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2514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ko-KR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0" y="2514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 인식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926080"/>
            <a:ext cx="5669280" cy="41148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0080" y="29260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continuous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03120" y="2926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31920" y="29260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수동 중지까지 계속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337560"/>
            <a:ext cx="56692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" y="3337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interimResults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03120" y="3337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31920" y="33375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 결과도 수신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749040"/>
            <a:ext cx="5669280" cy="41148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0080" y="37490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onresult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03120" y="3749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isFinal 필터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31920" y="37490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최종만 콜백 호출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0" y="1645920"/>
            <a:ext cx="5212080" cy="47548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766560" y="17373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useWebRTC.js · initSTT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66560" y="2103120"/>
            <a:ext cx="48463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r.onresult = (ev) =&gt;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final = '';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(let i = ev.resultIndex;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i &lt; ev.results.length; i++)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(ev.results[i].isFinal)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final += ev.results[i][0].transcript;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(final &amp;&amp; onTranscript)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onTranscript(final);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↓ 상위 컴포넌트에서 3가지 처리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1. 대화 기록 렌더링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2. 위험 키워드 감지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3. fullTextRef 누적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#7 학생 단체보험 약관 뷰어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조항 자동 하이라이트 — 6개 조항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/ 31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인하공전 · 인슈어테크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3749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374904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제8조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54480" y="1737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상해의료비 담보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24028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교육활동 중 급격·우연·외래 사고로 인한 실제 치료비 한도 보상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43400" y="1737360"/>
            <a:ext cx="3749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343400" y="1737360"/>
            <a:ext cx="3749040" cy="4114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480560" y="17373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제10조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40680" y="1737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입원일당 특약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26280" y="224028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상해로 4일 이상 입원 시 1일당 정액 지급 (최대 180일)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0" y="1737360"/>
            <a:ext cx="3749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229600" y="1737360"/>
            <a:ext cx="3749040" cy="411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366760" y="17373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제14조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26880" y="1737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일상생활 배상책임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224028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과실로 타인 신체·재물에 손해 발생 시 법률상 배상책임 한도 보상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3749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57200" y="3200400"/>
            <a:ext cx="3749040" cy="411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94360" y="32004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제16조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54480" y="3200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37033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고의·중대 과실·음주·무면허 사고는 보상 제외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43400" y="3200400"/>
            <a:ext cx="3749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343400" y="3200400"/>
            <a:ext cx="3749040" cy="411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480560" y="32004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제22조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40680" y="3200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중 특별약관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26280" y="37033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교내 실험·실습 수업 중 사고에 본 특약 우선 적용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229600" y="3200400"/>
            <a:ext cx="3749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8229600" y="3200400"/>
            <a:ext cx="3749040" cy="41148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8366760" y="32004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제25조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326880" y="3200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현장실습 특별약관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412480" y="37033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산학협력 현장실습·인턴십 기간 사고, 산재 우선 후 미보상액 보상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5303520"/>
            <a:ext cx="11277295" cy="10972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40080" y="544068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AI 분석 결과의 clauseRefs 배열에 포함된 조항은 약관 패널 하단에 자동 태그 하이라이트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0080" y="57607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감전 사고 매칭 → 「제8조·제10조·제22조」 파랑 배지로 시각화 → 사용자가 즉시 해당 조항 확인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#8 상담 이력 로컬 저장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localStorage(consultHistory) — 백엔드 없이도 영속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 / 31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인하공전 · 인슈어테크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스키마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5669280" cy="41148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53035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localStorage.setItem(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'consultHistory',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JSON.stringify([{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roomId: 'room-1713938100000',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date:   '2026. 4. 24. 오후 3:15:23',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title:  'AI 상담 - 2026. 4. 24.',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transcript: 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speaker, text, time, isAi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analysis: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summary, keywords, clauseRefs,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customerTone, riskLevel,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actionItems, settlementHint,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source, matchedScenarioName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duration: 185  // 초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 ...기존 이력])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5508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이력 활용 화면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5080" y="2103120"/>
            <a:ext cx="53949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355080" y="2103120"/>
            <a:ext cx="91440" cy="12344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58368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MainPage · 최근 10건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0" y="26974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형태 + 위험도 색상 배지 (빨강/주황/초록) 자동 지정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3520440"/>
            <a:ext cx="53949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355080" y="3520440"/>
            <a:ext cx="91440" cy="12344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583680" y="3703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DashboardPage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83680" y="41148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상담 통계 + 사고 유형별 분포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55080" y="4937760"/>
            <a:ext cx="53949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355080" y="4937760"/>
            <a:ext cx="91440" cy="12344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583680" y="5120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SummaryPage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0" y="553212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특정 roomId의 분석 결과 상세 (요약·키워드·조치·합의)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UI/UX 설계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 레이아웃 · 다크 테마 · 브랜딩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 / 31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인하공전 · 인슈어테크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ConsultationRoomPage — 3단 레이아웃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182880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📄 약관 패널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1645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BE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제8조 상해의료비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BE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제10조 입원일당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BE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제14조 배상책임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BE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제16조 면책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BE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제22조 실습 특약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BE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제25조 현장실습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5760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280px (접기 가능)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23160" y="2103120"/>
            <a:ext cx="3840480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423160" y="2194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🤖 AI 아바타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03320" y="3200400"/>
            <a:ext cx="1280160" cy="12801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703320" y="32004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00000"/>
                </a:solidFill>
              </a:rPr>
              <a:t>🤖</a:t>
            </a:r>
            <a:endParaRPr lang="en-US" sz="5000" dirty="0"/>
          </a:p>
        </p:txBody>
      </p:sp>
      <p:sp>
        <p:nvSpPr>
          <p:cNvPr id="17" name="Text 15"/>
          <p:cNvSpPr/>
          <p:nvPr/>
        </p:nvSpPr>
        <p:spPr>
          <a:xfrm>
            <a:off x="2423160" y="5486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🎤 📹 🎙️ 🤖 📵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423160" y="57607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가변 폭 (flex:1)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55080" y="2103120"/>
            <a:ext cx="20116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355080" y="2194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🤖 AI 분석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2560320"/>
            <a:ext cx="18288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BE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 대화 기록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BE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🎙️ 학생 발화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BE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🤖 AI 응답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BE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✦ 요약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BE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✦ 감정/위험도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BE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✦ 키워드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BE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✦ 후속조치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BE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✦ 합의방향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55080" y="57607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320px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0" y="1645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색상 팔레트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686800" y="2103120"/>
            <a:ext cx="502920" cy="411480"/>
          </a:xfrm>
          <a:prstGeom prst="rect">
            <a:avLst/>
          </a:prstGeom>
          <a:solidFill>
            <a:srgbClr val="0F172A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9281160" y="21031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Primary BG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835640" y="210312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#0F172A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686800" y="2606040"/>
            <a:ext cx="502920" cy="411480"/>
          </a:xfrm>
          <a:prstGeom prst="rect">
            <a:avLst/>
          </a:prstGeom>
          <a:solidFill>
            <a:srgbClr val="1E293B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9281160" y="26060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Panel BG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835640" y="260604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#1E293B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686800" y="3108960"/>
            <a:ext cx="502920" cy="411480"/>
          </a:xfrm>
          <a:prstGeom prst="rect">
            <a:avLst/>
          </a:prstGeom>
          <a:solidFill>
            <a:srgbClr val="3B82F6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9281160" y="31089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Accent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835640" y="310896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#3B82F6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686800" y="3611880"/>
            <a:ext cx="502920" cy="411480"/>
          </a:xfrm>
          <a:prstGeom prst="rect">
            <a:avLst/>
          </a:prstGeom>
          <a:solidFill>
            <a:srgbClr val="DC2626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9281160" y="36118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Danger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835640" y="361188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#DC2626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686800" y="4114800"/>
            <a:ext cx="502920" cy="411480"/>
          </a:xfrm>
          <a:prstGeom prst="rect">
            <a:avLst/>
          </a:prstGeom>
          <a:solidFill>
            <a:srgbClr val="10B981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9281160" y="41148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Success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835640" y="411480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#10B981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686800" y="4617720"/>
            <a:ext cx="502920" cy="411480"/>
          </a:xfrm>
          <a:prstGeom prst="rect">
            <a:avLst/>
          </a:prstGeom>
          <a:solidFill>
            <a:srgbClr val="F59E0B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9281160" y="46177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Warning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835640" y="461772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#F59E0B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686800" y="5120640"/>
            <a:ext cx="502920" cy="411480"/>
          </a:xfrm>
          <a:prstGeom prst="rect">
            <a:avLst/>
          </a:prstGeom>
          <a:solidFill>
            <a:srgbClr val="93C5FD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9281160" y="51206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Link Blue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835640" y="512064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#93C5FD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92608"/>
            <a:ext cx="12191695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기술적 의의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시스템이 만든 4가지 아키텍처 원칙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 / 31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인하공전 · 인슈어테크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128016" cy="21945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68680" y="1965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🧠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874520" y="1965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Hybrid Intelligence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68680" y="28803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정적 사전 매칭 + 동적 LLM 생성.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LLM의 비용·지연·일관성 문제를 현실적으로 완화하는 RAG 계열 설계 패턴.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217920" y="1645920"/>
            <a:ext cx="128016" cy="21945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537960" y="1965960"/>
            <a:ext cx="822960" cy="82296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537960" y="1965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🔌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543800" y="1965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Pluggable Domain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37960" y="28803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scenarios.js · riskKeywords.js · demoScripts.js는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 코드와 완전히 분리. JSON만 교체하면 심리상담·학사상담 도메인에도 즉시 재사용.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128016" cy="2194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868680" y="4297680"/>
            <a:ext cx="822960" cy="8229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68680" y="4297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🏗️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874520" y="42976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Zero-backend Demo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68680" y="52120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 미기동·시그널링 서버 미연결 상태에서도 완전 동작.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경진대회 현장 네트워크 이슈에 강건.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397764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217920" y="3977640"/>
            <a:ext cx="128016" cy="21945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537960" y="4297680"/>
            <a:ext cx="822960" cy="8229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537960" y="4297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🛡️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543800" y="42976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Graceful Degradation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537960" y="52120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Gemini 실패 → fallback 객체 반환.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 음성 없음 → 기본 음성.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STT 미지원 → 시연 프리셋으로 동등 시연.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448495" y="4114800"/>
            <a:ext cx="6400800" cy="64008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kern="0" spc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286000" cy="73152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BE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인하공전 학생 단체보험 AI 화상 상담 시스템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3749040"/>
            <a:ext cx="347472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31520" y="3749040"/>
            <a:ext cx="91440" cy="16459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3931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실험실 사고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4348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화상·감전·기계 부상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 시나리오 즉시 매칭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3749040"/>
            <a:ext cx="347472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480560" y="3749040"/>
            <a:ext cx="91440" cy="16459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754880" y="3931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아바타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44348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음성 상담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TTS + 실시간 위험 감지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3749040"/>
            <a:ext cx="347472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229600" y="3749040"/>
            <a:ext cx="91440" cy="16459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503920" y="3931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단체보험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03920" y="44348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조항 자동 매칭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청구 행동까지 연결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5760720"/>
            <a:ext cx="10972800" cy="8229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14400" y="57607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 &amp; A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657600" y="57607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인슈어테크 · 이예진 · 지윤석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0" y="57607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DBE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인하공업전문대학 · 2026. 04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3378</Words>
  <Application>Microsoft Office PowerPoint</Application>
  <PresentationFormat>와이드스크린</PresentationFormat>
  <Paragraphs>797</Paragraphs>
  <Slides>28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3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>인하공전 인슈어테크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인하공전 학생 단체보험 AI 화상 상담 시스템</dc:title>
  <dc:subject>2026년 교내 경진대회 발표 자료</dc:subject>
  <dc:creator>PptxGenJS</dc:creator>
  <cp:lastModifiedBy>이예진[컴퓨터시스템공학과]</cp:lastModifiedBy>
  <cp:revision>2</cp:revision>
  <dcterms:created xsi:type="dcterms:W3CDTF">2026-04-24T06:49:15Z</dcterms:created>
  <dcterms:modified xsi:type="dcterms:W3CDTF">2026-04-27T07:35:59Z</dcterms:modified>
  <cp:version/>
</cp:coreProperties>
</file>